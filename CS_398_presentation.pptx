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embeddedFontLst>
    <p:embeddedFont>
      <p:font typeface="Roboto"/>
      <p:regular r:id="rId18"/>
      <p:bold r:id="rId19"/>
      <p:italic r:id="rId20"/>
      <p:boldItalic r:id="rId21"/>
    </p:embeddedFont>
    <p:embeddedFont>
      <p:font typeface="Merriweather"/>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italic.fntdata"/><Relationship Id="rId22" Type="http://schemas.openxmlformats.org/officeDocument/2006/relationships/font" Target="fonts/Merriweather-regular.fntdata"/><Relationship Id="rId21" Type="http://schemas.openxmlformats.org/officeDocument/2006/relationships/font" Target="fonts/Roboto-boldItalic.fntdata"/><Relationship Id="rId24" Type="http://schemas.openxmlformats.org/officeDocument/2006/relationships/font" Target="fonts/Merriweather-italic.fntdata"/><Relationship Id="rId23" Type="http://schemas.openxmlformats.org/officeDocument/2006/relationships/font" Target="fonts/Merriweather-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schemas.openxmlformats.org/officeDocument/2006/relationships/font" Target="fonts/Merriweather-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Roboto-bold.fntdata"/><Relationship Id="rId18" Type="http://schemas.openxmlformats.org/officeDocument/2006/relationships/font" Target="fonts/Roboto-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a27d22ba17_0_8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a27d22ba17_0_8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Clr>
                <a:schemeClr val="dk1"/>
              </a:buClr>
              <a:buSzPts val="1200"/>
              <a:buAutoNum type="arabicPeriod"/>
            </a:pPr>
            <a:r>
              <a:rPr lang="en" sz="1200">
                <a:solidFill>
                  <a:schemeClr val="dk1"/>
                </a:solidFill>
              </a:rPr>
              <a:t>We focused on improving system reliability by adding automated playwright tests that enabled us to catch bugs easier especially when adding new features.</a:t>
            </a:r>
            <a:endParaRPr sz="1200">
              <a:solidFill>
                <a:schemeClr val="dk1"/>
              </a:solidFill>
            </a:endParaRPr>
          </a:p>
          <a:p>
            <a:pPr indent="-304800" lvl="0" marL="457200" rtl="0" algn="l">
              <a:spcBef>
                <a:spcPts val="0"/>
              </a:spcBef>
              <a:spcAft>
                <a:spcPts val="0"/>
              </a:spcAft>
              <a:buClr>
                <a:schemeClr val="dk1"/>
              </a:buClr>
              <a:buSzPts val="1200"/>
              <a:buAutoNum type="arabicPeriod"/>
            </a:pPr>
            <a:r>
              <a:rPr lang="en" sz="1200">
                <a:solidFill>
                  <a:schemeClr val="dk1"/>
                </a:solidFill>
              </a:rPr>
              <a:t>We made the system easier to use and more responsive, so users could complete tasks faster and with fewer friction points.</a:t>
            </a:r>
            <a:endParaRPr sz="1200">
              <a:solidFill>
                <a:schemeClr val="dk1"/>
              </a:solidFill>
            </a:endParaRPr>
          </a:p>
          <a:p>
            <a:pPr indent="-304800" lvl="0" marL="457200" rtl="0" algn="l">
              <a:spcBef>
                <a:spcPts val="0"/>
              </a:spcBef>
              <a:spcAft>
                <a:spcPts val="0"/>
              </a:spcAft>
              <a:buClr>
                <a:schemeClr val="dk1"/>
              </a:buClr>
              <a:buSzPts val="1200"/>
              <a:buAutoNum type="arabicPeriod"/>
            </a:pPr>
            <a:r>
              <a:rPr lang="en" sz="1200">
                <a:solidFill>
                  <a:schemeClr val="dk1"/>
                </a:solidFill>
              </a:rPr>
              <a:t>We stayed closely in contact with the nursing department throughout development to ensure the system matched their needs.</a:t>
            </a:r>
            <a:endParaRPr sz="1200">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e67809f74d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e67809f74d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1200"/>
              </a:spcAft>
              <a:buNone/>
            </a:pPr>
            <a:r>
              <a:t/>
            </a:r>
            <a:endParaRPr sz="815">
              <a:solidFill>
                <a:schemeClr val="dk1"/>
              </a:solidFill>
              <a:latin typeface="Roboto"/>
              <a:ea typeface="Roboto"/>
              <a:cs typeface="Roboto"/>
              <a:sym typeface="Roboto"/>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e67809f74d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e67809f74d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36550" lvl="0" marL="457200" rtl="0" algn="l">
              <a:lnSpc>
                <a:spcPct val="150000"/>
              </a:lnSpc>
              <a:spcBef>
                <a:spcPts val="0"/>
              </a:spcBef>
              <a:spcAft>
                <a:spcPts val="0"/>
              </a:spcAft>
              <a:buClr>
                <a:srgbClr val="0F1115"/>
              </a:buClr>
              <a:buSzPts val="1700"/>
              <a:buFont typeface="Arial"/>
              <a:buChar char="●"/>
            </a:pPr>
            <a:r>
              <a:rPr lang="en" sz="1700">
                <a:solidFill>
                  <a:srgbClr val="0F1115"/>
                </a:solidFill>
              </a:rPr>
              <a:t>Added form validation for various creation forms</a:t>
            </a:r>
            <a:endParaRPr sz="1700">
              <a:solidFill>
                <a:srgbClr val="0F1115"/>
              </a:solidFill>
            </a:endParaRPr>
          </a:p>
          <a:p>
            <a:pPr indent="-336550" lvl="0" marL="457200" rtl="0" algn="l">
              <a:lnSpc>
                <a:spcPct val="150000"/>
              </a:lnSpc>
              <a:spcBef>
                <a:spcPts val="0"/>
              </a:spcBef>
              <a:spcAft>
                <a:spcPts val="0"/>
              </a:spcAft>
              <a:buClr>
                <a:srgbClr val="0F1115"/>
              </a:buClr>
              <a:buSzPts val="1700"/>
              <a:buFont typeface="Roboto"/>
              <a:buChar char="●"/>
            </a:pPr>
            <a:r>
              <a:rPr lang="en" sz="1700">
                <a:solidFill>
                  <a:srgbClr val="0F1115"/>
                </a:solidFill>
              </a:rPr>
              <a:t>Added pop-up notifications for various actions</a:t>
            </a:r>
            <a:endParaRPr sz="815">
              <a:solidFill>
                <a:schemeClr val="dk1"/>
              </a:solidFill>
              <a:latin typeface="Roboto"/>
              <a:ea typeface="Roboto"/>
              <a:cs typeface="Roboto"/>
              <a:sym typeface="Roboto"/>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e67809f74d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e67809f74d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36550" lvl="0" marL="457200" rtl="0" algn="l">
              <a:lnSpc>
                <a:spcPct val="150000"/>
              </a:lnSpc>
              <a:spcBef>
                <a:spcPts val="0"/>
              </a:spcBef>
              <a:spcAft>
                <a:spcPts val="0"/>
              </a:spcAft>
              <a:buClr>
                <a:srgbClr val="0F1115"/>
              </a:buClr>
              <a:buSzPts val="1700"/>
              <a:buFont typeface="Arial"/>
              <a:buChar char="●"/>
            </a:pPr>
            <a:r>
              <a:rPr lang="en" sz="1700">
                <a:solidFill>
                  <a:srgbClr val="0F1115"/>
                </a:solidFill>
              </a:rPr>
              <a:t>Reworked WNL system</a:t>
            </a:r>
            <a:endParaRPr sz="1700">
              <a:solidFill>
                <a:srgbClr val="0F1115"/>
              </a:solidFill>
            </a:endParaRPr>
          </a:p>
          <a:p>
            <a:pPr indent="-336550" lvl="0" marL="457200" rtl="0" algn="l">
              <a:lnSpc>
                <a:spcPct val="150000"/>
              </a:lnSpc>
              <a:spcBef>
                <a:spcPts val="0"/>
              </a:spcBef>
              <a:spcAft>
                <a:spcPts val="0"/>
              </a:spcAft>
              <a:buClr>
                <a:srgbClr val="0F1115"/>
              </a:buClr>
              <a:buSzPts val="1700"/>
              <a:buFont typeface="Arial"/>
              <a:buChar char="●"/>
            </a:pPr>
            <a:r>
              <a:rPr lang="en" sz="1700">
                <a:solidFill>
                  <a:srgbClr val="0F1115"/>
                </a:solidFill>
              </a:rPr>
              <a:t>Added tests</a:t>
            </a:r>
            <a:endParaRPr sz="1700">
              <a:solidFill>
                <a:srgbClr val="0F1115"/>
              </a:solidFill>
            </a:endParaRPr>
          </a:p>
          <a:p>
            <a:pPr indent="-336550" lvl="0" marL="457200" rtl="0" algn="l">
              <a:lnSpc>
                <a:spcPct val="150000"/>
              </a:lnSpc>
              <a:spcBef>
                <a:spcPts val="0"/>
              </a:spcBef>
              <a:spcAft>
                <a:spcPts val="0"/>
              </a:spcAft>
              <a:buClr>
                <a:srgbClr val="0F1115"/>
              </a:buClr>
              <a:buSzPts val="1700"/>
              <a:buFont typeface="Arial"/>
              <a:buChar char="●"/>
            </a:pPr>
            <a:r>
              <a:rPr lang="en" sz="1700">
                <a:solidFill>
                  <a:srgbClr val="0F1115"/>
                </a:solidFill>
              </a:rPr>
              <a:t>Bug fixes improvements</a:t>
            </a:r>
            <a:endParaRPr sz="1700">
              <a:solidFill>
                <a:srgbClr val="0F1115"/>
              </a:solidFill>
            </a:endParaRPr>
          </a:p>
          <a:p>
            <a:pPr indent="0" lvl="0" marL="914400" rtl="0" algn="l">
              <a:lnSpc>
                <a:spcPct val="150000"/>
              </a:lnSpc>
              <a:spcBef>
                <a:spcPts val="0"/>
              </a:spcBef>
              <a:spcAft>
                <a:spcPts val="0"/>
              </a:spcAft>
              <a:buClr>
                <a:schemeClr val="dk1"/>
              </a:buClr>
              <a:buSzPts val="1100"/>
              <a:buFont typeface="Arial"/>
              <a:buNone/>
            </a:pPr>
            <a:r>
              <a:t/>
            </a:r>
            <a:endParaRPr sz="1700">
              <a:solidFill>
                <a:srgbClr val="0F1115"/>
              </a:solidFill>
            </a:endParaRPr>
          </a:p>
          <a:p>
            <a:pPr indent="0" lvl="0" marL="0" rtl="0" algn="l">
              <a:spcBef>
                <a:spcPts val="0"/>
              </a:spcBef>
              <a:spcAft>
                <a:spcPts val="0"/>
              </a:spcAft>
              <a:buNone/>
            </a:pPr>
            <a:r>
              <a:t/>
            </a:r>
            <a:endParaRPr sz="100"/>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e67809f74d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e67809f74d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rPr>
              <a:t>This semester, I worked on reworking the login and user authentication system, implementing form auto-saving</a:t>
            </a:r>
            <a:endParaRPr sz="700"/>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d56222bf22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d56222bf22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a27d22ba17_0_8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a27d22ba17_0_8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605"/>
              <a:buFont typeface="Arial"/>
              <a:buNone/>
            </a:pPr>
            <a:r>
              <a:rPr lang="en" sz="1215">
                <a:solidFill>
                  <a:schemeClr val="dk1"/>
                </a:solidFill>
                <a:latin typeface="Roboto"/>
                <a:ea typeface="Roboto"/>
                <a:cs typeface="Roboto"/>
                <a:sym typeface="Roboto"/>
              </a:rPr>
              <a:t>Appropriateness - Constant contact with the nursing department regarding necessary features and vocabulary., speaks their language</a:t>
            </a:r>
            <a:endParaRPr sz="1215">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605"/>
              <a:buFont typeface="Arial"/>
              <a:buNone/>
            </a:pPr>
            <a:r>
              <a:rPr lang="en" sz="1215">
                <a:solidFill>
                  <a:schemeClr val="dk1"/>
                </a:solidFill>
                <a:latin typeface="Roboto"/>
                <a:ea typeface="Roboto"/>
                <a:cs typeface="Roboto"/>
                <a:sym typeface="Roboto"/>
              </a:rPr>
              <a:t>Caring - Present patient data in a way that reminds nurses when they go out they are caring for real people — not just managing records in a system. - pictures</a:t>
            </a:r>
            <a:endParaRPr sz="1215">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605"/>
              <a:buFont typeface="Arial"/>
              <a:buNone/>
            </a:pPr>
            <a:r>
              <a:rPr lang="en" sz="1215">
                <a:solidFill>
                  <a:schemeClr val="dk1"/>
                </a:solidFill>
                <a:latin typeface="Roboto"/>
                <a:ea typeface="Roboto"/>
                <a:cs typeface="Roboto"/>
                <a:sym typeface="Roboto"/>
              </a:rPr>
              <a:t>Transparency - Work hard to maintain an intuitive UI, no guesswork, no hidden complexity. </a:t>
            </a:r>
            <a:endParaRPr sz="1215">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605"/>
              <a:buFont typeface="Arial"/>
              <a:buNone/>
            </a:pPr>
            <a:r>
              <a:rPr lang="en" sz="1215">
                <a:solidFill>
                  <a:schemeClr val="dk1"/>
                </a:solidFill>
                <a:latin typeface="Roboto"/>
                <a:ea typeface="Roboto"/>
                <a:cs typeface="Roboto"/>
                <a:sym typeface="Roboto"/>
              </a:rPr>
              <a:t>Trust - Build a system that behaves consistently and communicates honestly, By behaving predictably and surfacing information clearly </a:t>
            </a:r>
            <a:endParaRPr sz="1215">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605"/>
              <a:buFont typeface="Arial"/>
              <a:buNone/>
            </a:pPr>
            <a:r>
              <a:t/>
            </a:r>
            <a:endParaRPr sz="1215">
              <a:solidFill>
                <a:schemeClr val="dk1"/>
              </a:solidFill>
              <a:latin typeface="Roboto"/>
              <a:ea typeface="Roboto"/>
              <a:cs typeface="Roboto"/>
              <a:sym typeface="Roboto"/>
            </a:endParaRPr>
          </a:p>
          <a:p>
            <a:pPr indent="0" lvl="0" marL="0" rtl="0" algn="l">
              <a:spcBef>
                <a:spcPts val="1200"/>
              </a:spcBef>
              <a:spcAft>
                <a:spcPts val="0"/>
              </a:spcAft>
              <a:buNone/>
            </a:pPr>
            <a:r>
              <a:t/>
            </a:r>
            <a:endParaRPr sz="700"/>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a285ed119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a285ed119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Clr>
                <a:srgbClr val="0F1115"/>
              </a:buClr>
              <a:buSzPts val="1600"/>
              <a:buChar char="●"/>
            </a:pPr>
            <a:r>
              <a:rPr lang="en" sz="1600">
                <a:solidFill>
                  <a:srgbClr val="0F1115"/>
                </a:solidFill>
              </a:rPr>
              <a:t>Learning the existing code structure and working with legacy code</a:t>
            </a:r>
            <a:endParaRPr sz="1600">
              <a:solidFill>
                <a:srgbClr val="0F1115"/>
              </a:solidFill>
            </a:endParaRPr>
          </a:p>
          <a:p>
            <a:pPr indent="-330200" lvl="0" marL="457200" rtl="0" algn="l">
              <a:spcBef>
                <a:spcPts val="0"/>
              </a:spcBef>
              <a:spcAft>
                <a:spcPts val="0"/>
              </a:spcAft>
              <a:buClr>
                <a:srgbClr val="0F1115"/>
              </a:buClr>
              <a:buSzPts val="1600"/>
              <a:buChar char="●"/>
            </a:pPr>
            <a:r>
              <a:rPr lang="en" sz="1600">
                <a:solidFill>
                  <a:srgbClr val="0F1115"/>
                </a:solidFill>
              </a:rPr>
              <a:t>A challenge with SAML login was that we have dev and prod environments, but our dev environment wasn't deployed. SAML requires the redirect URL to exactly match what's registered with the provider. So testing in development was hard because the endpoint wasn't live yet.</a:t>
            </a:r>
            <a:endParaRPr sz="1600">
              <a:solidFill>
                <a:srgbClr val="0F1115"/>
              </a:solidFill>
            </a:endParaRPr>
          </a:p>
          <a:p>
            <a:pPr indent="0" lvl="0" marL="0" rtl="0" algn="l">
              <a:spcBef>
                <a:spcPts val="0"/>
              </a:spcBef>
              <a:spcAft>
                <a:spcPts val="0"/>
              </a:spcAft>
              <a:buNone/>
            </a:pPr>
            <a:r>
              <a:t/>
            </a:r>
            <a:endParaRPr sz="700"/>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a27d22ba17_0_8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a27d22ba17_0_8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11150" lvl="0" marL="457200" rtl="0" algn="l">
              <a:lnSpc>
                <a:spcPct val="150000"/>
              </a:lnSpc>
              <a:spcBef>
                <a:spcPts val="0"/>
              </a:spcBef>
              <a:spcAft>
                <a:spcPts val="0"/>
              </a:spcAft>
              <a:buClr>
                <a:schemeClr val="dk1"/>
              </a:buClr>
              <a:buSzPts val="1300"/>
              <a:buFont typeface="Arial"/>
              <a:buChar char="●"/>
            </a:pPr>
            <a:r>
              <a:rPr lang="en" sz="1300">
                <a:solidFill>
                  <a:schemeClr val="dk1"/>
                </a:solidFill>
              </a:rPr>
              <a:t>Continue working with the nursing department to meet their needs</a:t>
            </a:r>
            <a:endParaRPr sz="1300">
              <a:solidFill>
                <a:schemeClr val="dk1"/>
              </a:solidFill>
            </a:endParaRPr>
          </a:p>
          <a:p>
            <a:pPr indent="-311150" lvl="0" marL="457200" rtl="0" algn="l">
              <a:lnSpc>
                <a:spcPct val="150000"/>
              </a:lnSpc>
              <a:spcBef>
                <a:spcPts val="0"/>
              </a:spcBef>
              <a:spcAft>
                <a:spcPts val="0"/>
              </a:spcAft>
              <a:buClr>
                <a:schemeClr val="dk1"/>
              </a:buClr>
              <a:buSzPts val="1300"/>
              <a:buFont typeface="Arial"/>
              <a:buChar char="●"/>
            </a:pPr>
            <a:r>
              <a:rPr lang="en" sz="1300">
                <a:solidFill>
                  <a:schemeClr val="dk1"/>
                </a:solidFill>
              </a:rPr>
              <a:t>Continue writing tests</a:t>
            </a:r>
            <a:endParaRPr sz="1300">
              <a:solidFill>
                <a:schemeClr val="dk1"/>
              </a:solidFill>
            </a:endParaRPr>
          </a:p>
          <a:p>
            <a:pPr indent="-311150" lvl="0" marL="457200" rtl="0" algn="l">
              <a:lnSpc>
                <a:spcPct val="150000"/>
              </a:lnSpc>
              <a:spcBef>
                <a:spcPts val="0"/>
              </a:spcBef>
              <a:spcAft>
                <a:spcPts val="0"/>
              </a:spcAft>
              <a:buClr>
                <a:schemeClr val="dk1"/>
              </a:buClr>
              <a:buSzPts val="1300"/>
              <a:buFont typeface="Arial"/>
              <a:buChar char="●"/>
            </a:pPr>
            <a:r>
              <a:rPr lang="en" sz="1300">
                <a:solidFill>
                  <a:schemeClr val="dk1"/>
                </a:solidFill>
              </a:rPr>
              <a:t>Consistent code formatting</a:t>
            </a:r>
            <a:endParaRPr sz="1300">
              <a:solidFill>
                <a:schemeClr val="dk1"/>
              </a:solidFill>
            </a:endParaRPr>
          </a:p>
          <a:p>
            <a:pPr indent="-311150" lvl="0" marL="457200" rtl="0" algn="l">
              <a:lnSpc>
                <a:spcPct val="150000"/>
              </a:lnSpc>
              <a:spcBef>
                <a:spcPts val="0"/>
              </a:spcBef>
              <a:spcAft>
                <a:spcPts val="0"/>
              </a:spcAft>
              <a:buClr>
                <a:schemeClr val="dk1"/>
              </a:buClr>
              <a:buSzPts val="1300"/>
              <a:buFont typeface="Arial"/>
              <a:buChar char="●"/>
            </a:pPr>
            <a:r>
              <a:rPr lang="en" sz="1300">
                <a:solidFill>
                  <a:schemeClr val="dk1"/>
                </a:solidFill>
              </a:rPr>
              <a:t>Eventually develop into an adaptable product that can be sold to other schools</a:t>
            </a:r>
            <a:endParaRPr sz="1300">
              <a:solidFill>
                <a:schemeClr val="dk1"/>
              </a:solidFill>
            </a:endParaRPr>
          </a:p>
          <a:p>
            <a:pPr indent="0" lvl="0" marL="0" rtl="0" algn="l">
              <a:spcBef>
                <a:spcPts val="1200"/>
              </a:spcBef>
              <a:spcAft>
                <a:spcPts val="0"/>
              </a:spcAft>
              <a:buNone/>
            </a:pPr>
            <a:r>
              <a:t/>
            </a:r>
            <a:endParaRPr sz="1300">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aeb6de054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aeb6de054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ae2b5fd54b_1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ae2b5fd54b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125" y="0"/>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1" name="Google Shape;11;p2"/>
          <p:cNvSpPr txBox="1"/>
          <p:nvPr>
            <p:ph type="ctrTitle"/>
          </p:nvPr>
        </p:nvSpPr>
        <p:spPr>
          <a:xfrm>
            <a:off x="311700" y="539725"/>
            <a:ext cx="8520600" cy="12825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2" name="Google Shape;12;p2"/>
          <p:cNvSpPr txBox="1"/>
          <p:nvPr>
            <p:ph idx="1" type="subTitle"/>
          </p:nvPr>
        </p:nvSpPr>
        <p:spPr>
          <a:xfrm>
            <a:off x="311700" y="1878560"/>
            <a:ext cx="4242600" cy="7383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14" name="Shape 14"/>
        <p:cNvGrpSpPr/>
        <p:nvPr/>
      </p:nvGrpSpPr>
      <p:grpSpPr>
        <a:xfrm>
          <a:off x="0" y="0"/>
          <a:ext cx="0" cy="0"/>
          <a:chOff x="0" y="0"/>
          <a:chExt cx="0" cy="0"/>
        </a:xfrm>
      </p:grpSpPr>
      <p:sp>
        <p:nvSpPr>
          <p:cNvPr id="15" name="Google Shape;15;p3"/>
          <p:cNvSpPr/>
          <p:nvPr/>
        </p:nvSpPr>
        <p:spPr>
          <a:xfrm>
            <a:off x="0" y="48099"/>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6" name="Google Shape;16;p3"/>
          <p:cNvSpPr/>
          <p:nvPr/>
        </p:nvSpPr>
        <p:spPr>
          <a:xfrm>
            <a:off x="0" y="0"/>
            <a:ext cx="9144250" cy="4398100"/>
          </a:xfrm>
          <a:custGeom>
            <a:rect b="b" l="l" r="r" t="t"/>
            <a:pathLst>
              <a:path extrusionOk="0" h="175924" w="365770">
                <a:moveTo>
                  <a:pt x="0" y="0"/>
                </a:moveTo>
                <a:lnTo>
                  <a:pt x="365770" y="0"/>
                </a:lnTo>
                <a:lnTo>
                  <a:pt x="365760" y="70914"/>
                </a:lnTo>
                <a:lnTo>
                  <a:pt x="0" y="175924"/>
                </a:lnTo>
                <a:close/>
              </a:path>
            </a:pathLst>
          </a:custGeom>
          <a:solidFill>
            <a:schemeClr val="accent3"/>
          </a:solidFill>
          <a:ln>
            <a:noFill/>
          </a:ln>
        </p:spPr>
      </p:sp>
      <p:sp>
        <p:nvSpPr>
          <p:cNvPr id="17" name="Google Shape;17;p3"/>
          <p:cNvSpPr txBox="1"/>
          <p:nvPr>
            <p:ph type="title"/>
          </p:nvPr>
        </p:nvSpPr>
        <p:spPr>
          <a:xfrm>
            <a:off x="311700" y="539725"/>
            <a:ext cx="8520600" cy="12825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p:nvPr/>
        </p:nvSpPr>
        <p:spPr>
          <a:xfrm>
            <a:off x="0" y="44125"/>
            <a:ext cx="4313625" cy="4399375"/>
          </a:xfrm>
          <a:custGeom>
            <a:rect b="b" l="l" r="r" t="t"/>
            <a:pathLst>
              <a:path extrusionOk="0" h="175975" w="172545">
                <a:moveTo>
                  <a:pt x="0" y="157"/>
                </a:moveTo>
                <a:lnTo>
                  <a:pt x="172419" y="0"/>
                </a:lnTo>
                <a:lnTo>
                  <a:pt x="172545" y="126541"/>
                </a:lnTo>
                <a:lnTo>
                  <a:pt x="0" y="175975"/>
                </a:lnTo>
                <a:close/>
              </a:path>
            </a:pathLst>
          </a:custGeom>
          <a:solidFill>
            <a:schemeClr val="accent2"/>
          </a:solidFill>
          <a:ln>
            <a:noFill/>
          </a:ln>
        </p:spPr>
      </p:sp>
      <p:sp>
        <p:nvSpPr>
          <p:cNvPr id="22" name="Google Shape;22;p4"/>
          <p:cNvSpPr/>
          <p:nvPr/>
        </p:nvSpPr>
        <p:spPr>
          <a:xfrm>
            <a:off x="-125" y="0"/>
            <a:ext cx="4316900" cy="4395600"/>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23" name="Google Shape;23;p4"/>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4" name="Google Shape;24;p4"/>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6" name="Shape 26"/>
        <p:cNvGrpSpPr/>
        <p:nvPr/>
      </p:nvGrpSpPr>
      <p:grpSpPr>
        <a:xfrm>
          <a:off x="0" y="0"/>
          <a:ext cx="0" cy="0"/>
          <a:chOff x="0" y="0"/>
          <a:chExt cx="0" cy="0"/>
        </a:xfrm>
      </p:grpSpPr>
      <p:sp>
        <p:nvSpPr>
          <p:cNvPr id="27" name="Google Shape;27;p5"/>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5"/>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9" name="Google Shape;29;p5"/>
          <p:cNvSpPr txBox="1"/>
          <p:nvPr>
            <p:ph idx="1" type="body"/>
          </p:nvPr>
        </p:nvSpPr>
        <p:spPr>
          <a:xfrm>
            <a:off x="311700" y="1505700"/>
            <a:ext cx="3999900" cy="3076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5"/>
          <p:cNvSpPr txBox="1"/>
          <p:nvPr>
            <p:ph idx="2" type="body"/>
          </p:nvPr>
        </p:nvSpPr>
        <p:spPr>
          <a:xfrm>
            <a:off x="4832400" y="1505700"/>
            <a:ext cx="3999900" cy="3076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1" name="Google Shape;31;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2" name="Shape 32"/>
        <p:cNvGrpSpPr/>
        <p:nvPr/>
      </p:nvGrpSpPr>
      <p:grpSpPr>
        <a:xfrm>
          <a:off x="0" y="0"/>
          <a:ext cx="0" cy="0"/>
          <a:chOff x="0" y="0"/>
          <a:chExt cx="0" cy="0"/>
        </a:xfrm>
      </p:grpSpPr>
      <p:sp>
        <p:nvSpPr>
          <p:cNvPr id="33" name="Google Shape;33;p6"/>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5" name="Google Shape;3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p:nvPr/>
        </p:nvSpPr>
        <p:spPr>
          <a:xfrm>
            <a:off x="0" y="0"/>
            <a:ext cx="37644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txBox="1"/>
          <p:nvPr>
            <p:ph type="title"/>
          </p:nvPr>
        </p:nvSpPr>
        <p:spPr>
          <a:xfrm>
            <a:off x="311725" y="500925"/>
            <a:ext cx="3127500" cy="18291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9" name="Google Shape;39;p7"/>
          <p:cNvSpPr txBox="1"/>
          <p:nvPr>
            <p:ph idx="1" type="body"/>
          </p:nvPr>
        </p:nvSpPr>
        <p:spPr>
          <a:xfrm>
            <a:off x="311700" y="2390650"/>
            <a:ext cx="3127500" cy="229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0"/>
              </a:spcBef>
              <a:spcAft>
                <a:spcPts val="0"/>
              </a:spcAft>
              <a:buClr>
                <a:schemeClr val="accent2"/>
              </a:buClr>
              <a:buSzPts val="1100"/>
              <a:buChar char="○"/>
              <a:defRPr>
                <a:solidFill>
                  <a:schemeClr val="accent2"/>
                </a:solidFill>
              </a:defRPr>
            </a:lvl2pPr>
            <a:lvl3pPr indent="-298450" lvl="2" marL="1371600">
              <a:spcBef>
                <a:spcPts val="0"/>
              </a:spcBef>
              <a:spcAft>
                <a:spcPts val="0"/>
              </a:spcAft>
              <a:buClr>
                <a:schemeClr val="accent2"/>
              </a:buClr>
              <a:buSzPts val="1100"/>
              <a:buChar char="■"/>
              <a:defRPr>
                <a:solidFill>
                  <a:schemeClr val="accent2"/>
                </a:solidFill>
              </a:defRPr>
            </a:lvl3pPr>
            <a:lvl4pPr indent="-298450" lvl="3" marL="1828800">
              <a:spcBef>
                <a:spcPts val="0"/>
              </a:spcBef>
              <a:spcAft>
                <a:spcPts val="0"/>
              </a:spcAft>
              <a:buClr>
                <a:schemeClr val="accent2"/>
              </a:buClr>
              <a:buSzPts val="1100"/>
              <a:buChar char="●"/>
              <a:defRPr>
                <a:solidFill>
                  <a:schemeClr val="accent2"/>
                </a:solidFill>
              </a:defRPr>
            </a:lvl4pPr>
            <a:lvl5pPr indent="-298450" lvl="4" marL="2286000">
              <a:spcBef>
                <a:spcPts val="0"/>
              </a:spcBef>
              <a:spcAft>
                <a:spcPts val="0"/>
              </a:spcAft>
              <a:buClr>
                <a:schemeClr val="accent2"/>
              </a:buClr>
              <a:buSzPts val="1100"/>
              <a:buChar char="○"/>
              <a:defRPr>
                <a:solidFill>
                  <a:schemeClr val="accent2"/>
                </a:solidFill>
              </a:defRPr>
            </a:lvl5pPr>
            <a:lvl6pPr indent="-298450" lvl="5" marL="2743200">
              <a:spcBef>
                <a:spcPts val="0"/>
              </a:spcBef>
              <a:spcAft>
                <a:spcPts val="0"/>
              </a:spcAft>
              <a:buClr>
                <a:schemeClr val="accent2"/>
              </a:buClr>
              <a:buSzPts val="1100"/>
              <a:buChar char="■"/>
              <a:defRPr>
                <a:solidFill>
                  <a:schemeClr val="accent2"/>
                </a:solidFill>
              </a:defRPr>
            </a:lvl6pPr>
            <a:lvl7pPr indent="-298450" lvl="6" marL="3200400">
              <a:spcBef>
                <a:spcPts val="0"/>
              </a:spcBef>
              <a:spcAft>
                <a:spcPts val="0"/>
              </a:spcAft>
              <a:buClr>
                <a:schemeClr val="accent2"/>
              </a:buClr>
              <a:buSzPts val="1100"/>
              <a:buChar char="●"/>
              <a:defRPr>
                <a:solidFill>
                  <a:schemeClr val="accent2"/>
                </a:solidFill>
              </a:defRPr>
            </a:lvl7pPr>
            <a:lvl8pPr indent="-298450" lvl="7" marL="3657600">
              <a:spcBef>
                <a:spcPts val="0"/>
              </a:spcBef>
              <a:spcAft>
                <a:spcPts val="0"/>
              </a:spcAft>
              <a:buClr>
                <a:schemeClr val="accent2"/>
              </a:buClr>
              <a:buSzPts val="1100"/>
              <a:buChar char="○"/>
              <a:defRPr>
                <a:solidFill>
                  <a:schemeClr val="accent2"/>
                </a:solidFill>
              </a:defRPr>
            </a:lvl8pPr>
            <a:lvl9pPr indent="-298450" lvl="8" marL="4114800">
              <a:spcBef>
                <a:spcPts val="0"/>
              </a:spcBef>
              <a:spcAft>
                <a:spcPts val="0"/>
              </a:spcAft>
              <a:buClr>
                <a:schemeClr val="accent2"/>
              </a:buClr>
              <a:buSzPts val="1100"/>
              <a:buChar char="■"/>
              <a:defRPr>
                <a:solidFill>
                  <a:schemeClr val="accent2"/>
                </a:solidFill>
              </a:defRPr>
            </a:lvl9pPr>
          </a:lstStyle>
          <a:p/>
        </p:txBody>
      </p:sp>
      <p:sp>
        <p:nvSpPr>
          <p:cNvPr id="40" name="Google Shape;40;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41" name="Shape 41"/>
        <p:cNvGrpSpPr/>
        <p:nvPr/>
      </p:nvGrpSpPr>
      <p:grpSpPr>
        <a:xfrm>
          <a:off x="0" y="0"/>
          <a:ext cx="0" cy="0"/>
          <a:chOff x="0" y="0"/>
          <a:chExt cx="0" cy="0"/>
        </a:xfrm>
      </p:grpSpPr>
      <p:sp>
        <p:nvSpPr>
          <p:cNvPr id="42" name="Google Shape;42;p8"/>
          <p:cNvSpPr txBox="1"/>
          <p:nvPr>
            <p:ph type="title"/>
          </p:nvPr>
        </p:nvSpPr>
        <p:spPr>
          <a:xfrm>
            <a:off x="311675" y="798600"/>
            <a:ext cx="6247800" cy="3546300"/>
          </a:xfrm>
          <a:prstGeom prst="rect">
            <a:avLst/>
          </a:prstGeom>
        </p:spPr>
        <p:txBody>
          <a:bodyPr anchorCtr="0" anchor="ctr"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43" name="Google Shape;43;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4" name="Shape 44"/>
        <p:cNvGrpSpPr/>
        <p:nvPr/>
      </p:nvGrpSpPr>
      <p:grpSpPr>
        <a:xfrm>
          <a:off x="0" y="0"/>
          <a:ext cx="0" cy="0"/>
          <a:chOff x="0" y="0"/>
          <a:chExt cx="0" cy="0"/>
        </a:xfrm>
      </p:grpSpPr>
      <p:sp>
        <p:nvSpPr>
          <p:cNvPr id="45" name="Google Shape;45;p9"/>
          <p:cNvSpPr/>
          <p:nvPr/>
        </p:nvSpPr>
        <p:spPr>
          <a:xfrm>
            <a:off x="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9"/>
          <p:cNvSpPr txBox="1"/>
          <p:nvPr>
            <p:ph type="title"/>
          </p:nvPr>
        </p:nvSpPr>
        <p:spPr>
          <a:xfrm>
            <a:off x="311300" y="500925"/>
            <a:ext cx="3704400" cy="2049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47" name="Google Shape;47;p9"/>
          <p:cNvSpPr txBox="1"/>
          <p:nvPr>
            <p:ph idx="1" type="subTitle"/>
          </p:nvPr>
        </p:nvSpPr>
        <p:spPr>
          <a:xfrm>
            <a:off x="304800" y="2626725"/>
            <a:ext cx="3704400" cy="9267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p:txBody>
      </p:sp>
      <p:sp>
        <p:nvSpPr>
          <p:cNvPr id="48" name="Google Shape;48;p9"/>
          <p:cNvSpPr txBox="1"/>
          <p:nvPr>
            <p:ph idx="2" type="body"/>
          </p:nvPr>
        </p:nvSpPr>
        <p:spPr>
          <a:xfrm>
            <a:off x="4879025" y="500925"/>
            <a:ext cx="3954000" cy="4111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9" name="Google Shape;49;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0" name="Shape 50"/>
        <p:cNvGrpSpPr/>
        <p:nvPr/>
      </p:nvGrpSpPr>
      <p:grpSpPr>
        <a:xfrm>
          <a:off x="0" y="0"/>
          <a:ext cx="0" cy="0"/>
          <a:chOff x="0" y="0"/>
          <a:chExt cx="0" cy="0"/>
        </a:xfrm>
      </p:grpSpPr>
      <p:sp>
        <p:nvSpPr>
          <p:cNvPr id="51" name="Google Shape;51;p10"/>
          <p:cNvSpPr/>
          <p:nvPr/>
        </p:nvSpPr>
        <p:spPr>
          <a:xfrm>
            <a:off x="0" y="4369000"/>
            <a:ext cx="9144000" cy="774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10"/>
          <p:cNvSpPr txBox="1"/>
          <p:nvPr>
            <p:ph idx="1" type="body"/>
          </p:nvPr>
        </p:nvSpPr>
        <p:spPr>
          <a:xfrm>
            <a:off x="311700" y="4521400"/>
            <a:ext cx="7979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p:txBody>
      </p:sp>
      <p:sp>
        <p:nvSpPr>
          <p:cNvPr id="53" name="Google Shape;5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54" name="Shape 54"/>
        <p:cNvGrpSpPr/>
        <p:nvPr/>
      </p:nvGrpSpPr>
      <p:grpSpPr>
        <a:xfrm>
          <a:off x="0" y="0"/>
          <a:ext cx="0" cy="0"/>
          <a:chOff x="0" y="0"/>
          <a:chExt cx="0" cy="0"/>
        </a:xfrm>
      </p:grpSpPr>
      <p:sp>
        <p:nvSpPr>
          <p:cNvPr id="55" name="Google Shape;55;p11"/>
          <p:cNvSpPr txBox="1"/>
          <p:nvPr>
            <p:ph hasCustomPrompt="1" type="title"/>
          </p:nvPr>
        </p:nvSpPr>
        <p:spPr>
          <a:xfrm>
            <a:off x="311750" y="831175"/>
            <a:ext cx="5334900" cy="12447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56" name="Google Shape;56;p11"/>
          <p:cNvSpPr txBox="1"/>
          <p:nvPr>
            <p:ph idx="1" type="body"/>
          </p:nvPr>
        </p:nvSpPr>
        <p:spPr>
          <a:xfrm>
            <a:off x="311700" y="2121425"/>
            <a:ext cx="5334900" cy="942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0"/>
              </a:spcBef>
              <a:spcAft>
                <a:spcPts val="0"/>
              </a:spcAft>
              <a:buClr>
                <a:schemeClr val="accent2"/>
              </a:buClr>
              <a:buSzPts val="1100"/>
              <a:buChar char="○"/>
              <a:defRPr>
                <a:solidFill>
                  <a:schemeClr val="accent2"/>
                </a:solidFill>
              </a:defRPr>
            </a:lvl2pPr>
            <a:lvl3pPr indent="-298450" lvl="2" marL="1371600">
              <a:spcBef>
                <a:spcPts val="0"/>
              </a:spcBef>
              <a:spcAft>
                <a:spcPts val="0"/>
              </a:spcAft>
              <a:buClr>
                <a:schemeClr val="accent2"/>
              </a:buClr>
              <a:buSzPts val="1100"/>
              <a:buChar char="■"/>
              <a:defRPr>
                <a:solidFill>
                  <a:schemeClr val="accent2"/>
                </a:solidFill>
              </a:defRPr>
            </a:lvl3pPr>
            <a:lvl4pPr indent="-298450" lvl="3" marL="1828800">
              <a:spcBef>
                <a:spcPts val="0"/>
              </a:spcBef>
              <a:spcAft>
                <a:spcPts val="0"/>
              </a:spcAft>
              <a:buClr>
                <a:schemeClr val="accent2"/>
              </a:buClr>
              <a:buSzPts val="1100"/>
              <a:buChar char="●"/>
              <a:defRPr>
                <a:solidFill>
                  <a:schemeClr val="accent2"/>
                </a:solidFill>
              </a:defRPr>
            </a:lvl4pPr>
            <a:lvl5pPr indent="-298450" lvl="4" marL="2286000">
              <a:spcBef>
                <a:spcPts val="0"/>
              </a:spcBef>
              <a:spcAft>
                <a:spcPts val="0"/>
              </a:spcAft>
              <a:buClr>
                <a:schemeClr val="accent2"/>
              </a:buClr>
              <a:buSzPts val="1100"/>
              <a:buChar char="○"/>
              <a:defRPr>
                <a:solidFill>
                  <a:schemeClr val="accent2"/>
                </a:solidFill>
              </a:defRPr>
            </a:lvl5pPr>
            <a:lvl6pPr indent="-298450" lvl="5" marL="2743200">
              <a:spcBef>
                <a:spcPts val="0"/>
              </a:spcBef>
              <a:spcAft>
                <a:spcPts val="0"/>
              </a:spcAft>
              <a:buClr>
                <a:schemeClr val="accent2"/>
              </a:buClr>
              <a:buSzPts val="1100"/>
              <a:buChar char="■"/>
              <a:defRPr>
                <a:solidFill>
                  <a:schemeClr val="accent2"/>
                </a:solidFill>
              </a:defRPr>
            </a:lvl6pPr>
            <a:lvl7pPr indent="-298450" lvl="6" marL="3200400">
              <a:spcBef>
                <a:spcPts val="0"/>
              </a:spcBef>
              <a:spcAft>
                <a:spcPts val="0"/>
              </a:spcAft>
              <a:buClr>
                <a:schemeClr val="accent2"/>
              </a:buClr>
              <a:buSzPts val="1100"/>
              <a:buChar char="●"/>
              <a:defRPr>
                <a:solidFill>
                  <a:schemeClr val="accent2"/>
                </a:solidFill>
              </a:defRPr>
            </a:lvl7pPr>
            <a:lvl8pPr indent="-298450" lvl="7" marL="3657600">
              <a:spcBef>
                <a:spcPts val="0"/>
              </a:spcBef>
              <a:spcAft>
                <a:spcPts val="0"/>
              </a:spcAft>
              <a:buClr>
                <a:schemeClr val="accent2"/>
              </a:buClr>
              <a:buSzPts val="1100"/>
              <a:buChar char="○"/>
              <a:defRPr>
                <a:solidFill>
                  <a:schemeClr val="accent2"/>
                </a:solidFill>
              </a:defRPr>
            </a:lvl8pPr>
            <a:lvl9pPr indent="-298450" lvl="8" marL="4114800">
              <a:spcBef>
                <a:spcPts val="0"/>
              </a:spcBef>
              <a:spcAft>
                <a:spcPts val="0"/>
              </a:spcAft>
              <a:buClr>
                <a:schemeClr val="accent2"/>
              </a:buClr>
              <a:buSzPts val="1100"/>
              <a:buChar char="■"/>
              <a:defRPr>
                <a:solidFill>
                  <a:schemeClr val="accent2"/>
                </a:solidFill>
              </a:defRPr>
            </a:lvl9pPr>
          </a:lstStyle>
          <a:p/>
        </p:txBody>
      </p:sp>
      <p:sp>
        <p:nvSpPr>
          <p:cNvPr id="57" name="Google Shape;5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8" name="Shape 58"/>
        <p:cNvGrpSpPr/>
        <p:nvPr/>
      </p:nvGrpSpPr>
      <p:grpSpPr>
        <a:xfrm>
          <a:off x="0" y="0"/>
          <a:ext cx="0" cy="0"/>
          <a:chOff x="0" y="0"/>
          <a:chExt cx="0" cy="0"/>
        </a:xfrm>
      </p:grpSpPr>
      <p:sp>
        <p:nvSpPr>
          <p:cNvPr id="59" name="Google Shape;5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radig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indent="-298450" lvl="1" marL="9144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indent="-298450" lvl="2" marL="13716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indent="-298450" lvl="3" marL="18288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indent="-298450" lvl="4" marL="22860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indent="-298450" lvl="5" marL="27432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indent="-298450" lvl="6" marL="32004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indent="-298450" lvl="7" marL="36576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indent="-298450" lvl="8" marL="41148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3"/>
          <p:cNvSpPr txBox="1"/>
          <p:nvPr>
            <p:ph type="ctrTitle"/>
          </p:nvPr>
        </p:nvSpPr>
        <p:spPr>
          <a:xfrm>
            <a:off x="311700" y="539725"/>
            <a:ext cx="8520600" cy="1282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5300"/>
              <a:t>Calvin EMR</a:t>
            </a:r>
            <a:endParaRPr sz="5300"/>
          </a:p>
        </p:txBody>
      </p:sp>
      <p:sp>
        <p:nvSpPr>
          <p:cNvPr id="65" name="Google Shape;65;p13"/>
          <p:cNvSpPr txBox="1"/>
          <p:nvPr>
            <p:ph idx="1" type="subTitle"/>
          </p:nvPr>
        </p:nvSpPr>
        <p:spPr>
          <a:xfrm>
            <a:off x="311700" y="2072396"/>
            <a:ext cx="4242600" cy="99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300">
                <a:solidFill>
                  <a:schemeClr val="accent1"/>
                </a:solidFill>
              </a:rPr>
              <a:t>Alvin Waigwa</a:t>
            </a:r>
            <a:endParaRPr sz="2300">
              <a:solidFill>
                <a:schemeClr val="accent1"/>
              </a:solidFill>
            </a:endParaRPr>
          </a:p>
          <a:p>
            <a:pPr indent="0" lvl="0" marL="0" rtl="0" algn="l">
              <a:spcBef>
                <a:spcPts val="0"/>
              </a:spcBef>
              <a:spcAft>
                <a:spcPts val="0"/>
              </a:spcAft>
              <a:buNone/>
            </a:pPr>
            <a:r>
              <a:rPr lang="en" sz="2300">
                <a:solidFill>
                  <a:schemeClr val="accent1"/>
                </a:solidFill>
              </a:rPr>
              <a:t>Peter Lund</a:t>
            </a:r>
            <a:endParaRPr sz="2300">
              <a:solidFill>
                <a:schemeClr val="accent1"/>
              </a:solidFill>
            </a:endParaRPr>
          </a:p>
          <a:p>
            <a:pPr indent="0" lvl="0" marL="0" rtl="0" algn="l">
              <a:spcBef>
                <a:spcPts val="0"/>
              </a:spcBef>
              <a:spcAft>
                <a:spcPts val="0"/>
              </a:spcAft>
              <a:buNone/>
            </a:pPr>
            <a:r>
              <a:rPr lang="en" sz="2300">
                <a:solidFill>
                  <a:schemeClr val="accent1"/>
                </a:solidFill>
              </a:rPr>
              <a:t>Swayam Shrestha</a:t>
            </a:r>
            <a:endParaRPr sz="2300">
              <a:solidFill>
                <a:schemeClr val="accent1"/>
              </a:solidFill>
            </a:endParaRPr>
          </a:p>
          <a:p>
            <a:pPr indent="0" lvl="0" marL="0" rtl="0" algn="l">
              <a:spcBef>
                <a:spcPts val="0"/>
              </a:spcBef>
              <a:spcAft>
                <a:spcPts val="0"/>
              </a:spcAft>
              <a:buNone/>
            </a:pPr>
            <a:r>
              <a:rPr lang="en" sz="2300">
                <a:solidFill>
                  <a:schemeClr val="accent1"/>
                </a:solidFill>
              </a:rPr>
              <a:t>Prof. Norman</a:t>
            </a:r>
            <a:endParaRPr sz="2300">
              <a:solidFill>
                <a:schemeClr val="accent1"/>
              </a:solidFill>
            </a:endParaRPr>
          </a:p>
        </p:txBody>
      </p:sp>
      <p:pic>
        <p:nvPicPr>
          <p:cNvPr id="66" name="Google Shape;66;p13"/>
          <p:cNvPicPr preferRelativeResize="0"/>
          <p:nvPr/>
        </p:nvPicPr>
        <p:blipFill>
          <a:blip r:embed="rId3">
            <a:alphaModFix/>
          </a:blip>
          <a:stretch>
            <a:fillRect/>
          </a:stretch>
        </p:blipFill>
        <p:spPr>
          <a:xfrm>
            <a:off x="5758900" y="2816475"/>
            <a:ext cx="3237900" cy="21953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4"/>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Project Overview</a:t>
            </a:r>
            <a:endParaRPr/>
          </a:p>
        </p:txBody>
      </p:sp>
      <p:sp>
        <p:nvSpPr>
          <p:cNvPr id="72" name="Google Shape;72;p14"/>
          <p:cNvSpPr txBox="1"/>
          <p:nvPr>
            <p:ph idx="1" type="body"/>
          </p:nvPr>
        </p:nvSpPr>
        <p:spPr>
          <a:xfrm>
            <a:off x="4644675" y="500925"/>
            <a:ext cx="4166400" cy="4098600"/>
          </a:xfrm>
          <a:prstGeom prst="rect">
            <a:avLst/>
          </a:prstGeom>
        </p:spPr>
        <p:txBody>
          <a:bodyPr anchorCtr="0" anchor="t" bIns="91425" lIns="91425" spcFirstLastPara="1" rIns="91425" wrap="square" tIns="91425">
            <a:noAutofit/>
          </a:bodyPr>
          <a:lstStyle/>
          <a:p>
            <a:pPr indent="-457200" lvl="0" marL="457200" rtl="0" algn="l">
              <a:lnSpc>
                <a:spcPct val="150000"/>
              </a:lnSpc>
              <a:spcBef>
                <a:spcPts val="0"/>
              </a:spcBef>
              <a:spcAft>
                <a:spcPts val="0"/>
              </a:spcAft>
              <a:buClr>
                <a:srgbClr val="0F1115"/>
              </a:buClr>
              <a:buSzPts val="3600"/>
              <a:buFont typeface="Arial"/>
              <a:buChar char="●"/>
            </a:pPr>
            <a:r>
              <a:rPr lang="en" sz="2400">
                <a:solidFill>
                  <a:srgbClr val="000000"/>
                </a:solidFill>
                <a:latin typeface="Arial"/>
                <a:ea typeface="Arial"/>
                <a:cs typeface="Arial"/>
                <a:sym typeface="Arial"/>
              </a:rPr>
              <a:t>Reliability (Maintenance &amp; Testing)</a:t>
            </a:r>
            <a:endParaRPr sz="3600">
              <a:solidFill>
                <a:srgbClr val="0F1115"/>
              </a:solidFill>
              <a:latin typeface="Arial"/>
              <a:ea typeface="Arial"/>
              <a:cs typeface="Arial"/>
              <a:sym typeface="Arial"/>
            </a:endParaRPr>
          </a:p>
          <a:p>
            <a:pPr indent="-457200" lvl="0" marL="457200" rtl="0" algn="l">
              <a:lnSpc>
                <a:spcPct val="150000"/>
              </a:lnSpc>
              <a:spcBef>
                <a:spcPts val="1000"/>
              </a:spcBef>
              <a:spcAft>
                <a:spcPts val="0"/>
              </a:spcAft>
              <a:buClr>
                <a:srgbClr val="0F1115"/>
              </a:buClr>
              <a:buSzPts val="3600"/>
              <a:buFont typeface="Arial"/>
              <a:buChar char="●"/>
            </a:pPr>
            <a:r>
              <a:rPr lang="en" sz="2400">
                <a:solidFill>
                  <a:srgbClr val="000000"/>
                </a:solidFill>
                <a:latin typeface="Arial"/>
                <a:ea typeface="Arial"/>
                <a:cs typeface="Arial"/>
                <a:sym typeface="Arial"/>
              </a:rPr>
              <a:t>Usability (QOL &amp; Responsiveness)</a:t>
            </a:r>
            <a:endParaRPr sz="3600">
              <a:solidFill>
                <a:srgbClr val="0F1115"/>
              </a:solidFill>
              <a:latin typeface="Arial"/>
              <a:ea typeface="Arial"/>
              <a:cs typeface="Arial"/>
              <a:sym typeface="Arial"/>
            </a:endParaRPr>
          </a:p>
          <a:p>
            <a:pPr indent="-457200" lvl="0" marL="457200" rtl="0" algn="l">
              <a:lnSpc>
                <a:spcPct val="150000"/>
              </a:lnSpc>
              <a:spcBef>
                <a:spcPts val="1000"/>
              </a:spcBef>
              <a:spcAft>
                <a:spcPts val="1000"/>
              </a:spcAft>
              <a:buClr>
                <a:srgbClr val="0F1115"/>
              </a:buClr>
              <a:buSzPts val="3600"/>
              <a:buFont typeface="Arial"/>
              <a:buChar char="●"/>
            </a:pPr>
            <a:r>
              <a:rPr lang="en" sz="2400">
                <a:solidFill>
                  <a:srgbClr val="000000"/>
                </a:solidFill>
                <a:latin typeface="Arial"/>
                <a:ea typeface="Arial"/>
                <a:cs typeface="Arial"/>
                <a:sym typeface="Arial"/>
              </a:rPr>
              <a:t>Clinical Alignment (Nursing Collaboration)</a:t>
            </a:r>
            <a:endParaRPr sz="3600">
              <a:solidFill>
                <a:srgbClr val="0F1115"/>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5"/>
          <p:cNvSpPr txBox="1"/>
          <p:nvPr>
            <p:ph idx="4294967295" type="title"/>
          </p:nvPr>
        </p:nvSpPr>
        <p:spPr>
          <a:xfrm>
            <a:off x="640000" y="1970985"/>
            <a:ext cx="7824000" cy="639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4000"/>
              <a:t>What We’ve Accomplished</a:t>
            </a:r>
            <a:endParaRPr sz="4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6"/>
          <p:cNvSpPr txBox="1"/>
          <p:nvPr>
            <p:ph type="title"/>
          </p:nvPr>
        </p:nvSpPr>
        <p:spPr>
          <a:xfrm>
            <a:off x="297375" y="1490675"/>
            <a:ext cx="3706500" cy="639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Swayam Shrestha</a:t>
            </a:r>
            <a:endParaRPr/>
          </a:p>
        </p:txBody>
      </p:sp>
      <p:sp>
        <p:nvSpPr>
          <p:cNvPr id="83" name="Google Shape;83;p16"/>
          <p:cNvSpPr txBox="1"/>
          <p:nvPr>
            <p:ph idx="1" type="body"/>
          </p:nvPr>
        </p:nvSpPr>
        <p:spPr>
          <a:xfrm>
            <a:off x="4339500" y="1490675"/>
            <a:ext cx="4804500" cy="2838900"/>
          </a:xfrm>
          <a:prstGeom prst="rect">
            <a:avLst/>
          </a:prstGeom>
        </p:spPr>
        <p:txBody>
          <a:bodyPr anchorCtr="0" anchor="t" bIns="91425" lIns="91425" spcFirstLastPara="1" rIns="91425" wrap="square" tIns="91425">
            <a:noAutofit/>
          </a:bodyPr>
          <a:lstStyle/>
          <a:p>
            <a:pPr indent="-381000" lvl="0" marL="457200" rtl="0" algn="l">
              <a:lnSpc>
                <a:spcPct val="150000"/>
              </a:lnSpc>
              <a:spcBef>
                <a:spcPts val="0"/>
              </a:spcBef>
              <a:spcAft>
                <a:spcPts val="0"/>
              </a:spcAft>
              <a:buClr>
                <a:srgbClr val="0F1115"/>
              </a:buClr>
              <a:buSzPts val="2400"/>
              <a:buFont typeface="Arial"/>
              <a:buChar char="●"/>
            </a:pPr>
            <a:r>
              <a:rPr lang="en" sz="2400">
                <a:solidFill>
                  <a:srgbClr val="0F1115"/>
                </a:solidFill>
                <a:latin typeface="Arial"/>
                <a:ea typeface="Arial"/>
                <a:cs typeface="Arial"/>
                <a:sym typeface="Arial"/>
              </a:rPr>
              <a:t>Added form validation</a:t>
            </a:r>
            <a:endParaRPr sz="2400">
              <a:solidFill>
                <a:srgbClr val="0F1115"/>
              </a:solidFill>
              <a:latin typeface="Arial"/>
              <a:ea typeface="Arial"/>
              <a:cs typeface="Arial"/>
              <a:sym typeface="Arial"/>
            </a:endParaRPr>
          </a:p>
          <a:p>
            <a:pPr indent="-381000" lvl="0" marL="457200" rtl="0" algn="l">
              <a:lnSpc>
                <a:spcPct val="150000"/>
              </a:lnSpc>
              <a:spcBef>
                <a:spcPts val="0"/>
              </a:spcBef>
              <a:spcAft>
                <a:spcPts val="0"/>
              </a:spcAft>
              <a:buClr>
                <a:srgbClr val="0F1115"/>
              </a:buClr>
              <a:buSzPts val="2400"/>
              <a:buChar char="●"/>
            </a:pPr>
            <a:r>
              <a:rPr lang="en" sz="2400">
                <a:solidFill>
                  <a:srgbClr val="0F1115"/>
                </a:solidFill>
                <a:latin typeface="Arial"/>
                <a:ea typeface="Arial"/>
                <a:cs typeface="Arial"/>
                <a:sym typeface="Arial"/>
              </a:rPr>
              <a:t>Added pop-up notifications</a:t>
            </a:r>
            <a:endParaRPr sz="2400">
              <a:solidFill>
                <a:srgbClr val="0F1115"/>
              </a:solidFill>
              <a:latin typeface="Arial"/>
              <a:ea typeface="Arial"/>
              <a:cs typeface="Arial"/>
              <a:sym typeface="Arial"/>
            </a:endParaRPr>
          </a:p>
          <a:p>
            <a:pPr indent="-381000" lvl="0" marL="457200" rtl="0" algn="l">
              <a:lnSpc>
                <a:spcPct val="150000"/>
              </a:lnSpc>
              <a:spcBef>
                <a:spcPts val="0"/>
              </a:spcBef>
              <a:spcAft>
                <a:spcPts val="0"/>
              </a:spcAft>
              <a:buClr>
                <a:srgbClr val="0F1115"/>
              </a:buClr>
              <a:buSzPts val="2400"/>
              <a:buFont typeface="Arial"/>
              <a:buChar char="●"/>
            </a:pPr>
            <a:r>
              <a:rPr lang="en" sz="2400">
                <a:solidFill>
                  <a:srgbClr val="0F1115"/>
                </a:solidFill>
                <a:latin typeface="Arial"/>
                <a:ea typeface="Arial"/>
                <a:cs typeface="Arial"/>
                <a:sym typeface="Arial"/>
              </a:rPr>
              <a:t>Bug fixes and improvements</a:t>
            </a:r>
            <a:endParaRPr sz="2400">
              <a:solidFill>
                <a:srgbClr val="0F1115"/>
              </a:solidFill>
              <a:latin typeface="Arial"/>
              <a:ea typeface="Arial"/>
              <a:cs typeface="Arial"/>
              <a:sym typeface="Arial"/>
            </a:endParaRPr>
          </a:p>
          <a:p>
            <a:pPr indent="0" lvl="0" marL="457200" rtl="0" algn="l">
              <a:lnSpc>
                <a:spcPct val="150000"/>
              </a:lnSpc>
              <a:spcBef>
                <a:spcPts val="1200"/>
              </a:spcBef>
              <a:spcAft>
                <a:spcPts val="1200"/>
              </a:spcAft>
              <a:buNone/>
            </a:pPr>
            <a:r>
              <a:t/>
            </a:r>
            <a:endParaRPr sz="2400">
              <a:solidFill>
                <a:srgbClr val="0F1115"/>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7"/>
          <p:cNvSpPr txBox="1"/>
          <p:nvPr>
            <p:ph type="title"/>
          </p:nvPr>
        </p:nvSpPr>
        <p:spPr>
          <a:xfrm>
            <a:off x="247100" y="1558200"/>
            <a:ext cx="3706500" cy="639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Peter Lund</a:t>
            </a:r>
            <a:endParaRPr/>
          </a:p>
        </p:txBody>
      </p:sp>
      <p:sp>
        <p:nvSpPr>
          <p:cNvPr id="89" name="Google Shape;89;p17"/>
          <p:cNvSpPr txBox="1"/>
          <p:nvPr>
            <p:ph idx="1" type="body"/>
          </p:nvPr>
        </p:nvSpPr>
        <p:spPr>
          <a:xfrm>
            <a:off x="4339500" y="1558200"/>
            <a:ext cx="4804500" cy="2838900"/>
          </a:xfrm>
          <a:prstGeom prst="rect">
            <a:avLst/>
          </a:prstGeom>
        </p:spPr>
        <p:txBody>
          <a:bodyPr anchorCtr="0" anchor="t" bIns="91425" lIns="91425" spcFirstLastPara="1" rIns="91425" wrap="square" tIns="91425">
            <a:noAutofit/>
          </a:bodyPr>
          <a:lstStyle/>
          <a:p>
            <a:pPr indent="-381000" lvl="0" marL="457200" rtl="0" algn="l">
              <a:lnSpc>
                <a:spcPct val="150000"/>
              </a:lnSpc>
              <a:spcBef>
                <a:spcPts val="0"/>
              </a:spcBef>
              <a:spcAft>
                <a:spcPts val="0"/>
              </a:spcAft>
              <a:buClr>
                <a:srgbClr val="0F1115"/>
              </a:buClr>
              <a:buSzPts val="2400"/>
              <a:buFont typeface="Arial"/>
              <a:buChar char="●"/>
            </a:pPr>
            <a:r>
              <a:rPr lang="en" sz="2400">
                <a:solidFill>
                  <a:srgbClr val="0F1115"/>
                </a:solidFill>
                <a:latin typeface="Arial"/>
                <a:ea typeface="Arial"/>
                <a:cs typeface="Arial"/>
                <a:sym typeface="Arial"/>
              </a:rPr>
              <a:t>Added tests</a:t>
            </a:r>
            <a:endParaRPr sz="2400">
              <a:solidFill>
                <a:srgbClr val="0F1115"/>
              </a:solidFill>
              <a:latin typeface="Arial"/>
              <a:ea typeface="Arial"/>
              <a:cs typeface="Arial"/>
              <a:sym typeface="Arial"/>
            </a:endParaRPr>
          </a:p>
          <a:p>
            <a:pPr indent="-381000" lvl="0" marL="457200" rtl="0" algn="l">
              <a:lnSpc>
                <a:spcPct val="150000"/>
              </a:lnSpc>
              <a:spcBef>
                <a:spcPts val="0"/>
              </a:spcBef>
              <a:spcAft>
                <a:spcPts val="0"/>
              </a:spcAft>
              <a:buClr>
                <a:srgbClr val="0F1115"/>
              </a:buClr>
              <a:buSzPts val="2400"/>
              <a:buFont typeface="Arial"/>
              <a:buChar char="●"/>
            </a:pPr>
            <a:r>
              <a:rPr lang="en" sz="2400">
                <a:solidFill>
                  <a:srgbClr val="0F1115"/>
                </a:solidFill>
                <a:latin typeface="Arial"/>
                <a:ea typeface="Arial"/>
                <a:cs typeface="Arial"/>
                <a:sym typeface="Arial"/>
              </a:rPr>
              <a:t>Reworked WNL system</a:t>
            </a:r>
            <a:endParaRPr sz="2400">
              <a:solidFill>
                <a:srgbClr val="0F1115"/>
              </a:solidFill>
              <a:latin typeface="Arial"/>
              <a:ea typeface="Arial"/>
              <a:cs typeface="Arial"/>
              <a:sym typeface="Arial"/>
            </a:endParaRPr>
          </a:p>
          <a:p>
            <a:pPr indent="-381000" lvl="0" marL="457200" rtl="0" algn="l">
              <a:lnSpc>
                <a:spcPct val="150000"/>
              </a:lnSpc>
              <a:spcBef>
                <a:spcPts val="0"/>
              </a:spcBef>
              <a:spcAft>
                <a:spcPts val="0"/>
              </a:spcAft>
              <a:buClr>
                <a:srgbClr val="0F1115"/>
              </a:buClr>
              <a:buSzPts val="2400"/>
              <a:buFont typeface="Arial"/>
              <a:buChar char="●"/>
            </a:pPr>
            <a:r>
              <a:rPr lang="en" sz="2400">
                <a:solidFill>
                  <a:srgbClr val="0F1115"/>
                </a:solidFill>
                <a:latin typeface="Arial"/>
                <a:ea typeface="Arial"/>
                <a:cs typeface="Arial"/>
                <a:sym typeface="Arial"/>
              </a:rPr>
              <a:t>Bug fixes and improvements</a:t>
            </a:r>
            <a:endParaRPr sz="2400">
              <a:solidFill>
                <a:srgbClr val="0F1115"/>
              </a:solidFill>
              <a:latin typeface="Arial"/>
              <a:ea typeface="Arial"/>
              <a:cs typeface="Arial"/>
              <a:sym typeface="Arial"/>
            </a:endParaRPr>
          </a:p>
          <a:p>
            <a:pPr indent="0" lvl="0" marL="914400" rtl="0" algn="l">
              <a:lnSpc>
                <a:spcPct val="150000"/>
              </a:lnSpc>
              <a:spcBef>
                <a:spcPts val="0"/>
              </a:spcBef>
              <a:spcAft>
                <a:spcPts val="0"/>
              </a:spcAft>
              <a:buNone/>
            </a:pPr>
            <a:r>
              <a:t/>
            </a:r>
            <a:endParaRPr sz="2400">
              <a:solidFill>
                <a:srgbClr val="0F1115"/>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8"/>
          <p:cNvSpPr txBox="1"/>
          <p:nvPr>
            <p:ph type="title"/>
          </p:nvPr>
        </p:nvSpPr>
        <p:spPr>
          <a:xfrm>
            <a:off x="297375" y="1229925"/>
            <a:ext cx="3706500" cy="639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Alvin Waigwa</a:t>
            </a:r>
            <a:endParaRPr/>
          </a:p>
        </p:txBody>
      </p:sp>
      <p:sp>
        <p:nvSpPr>
          <p:cNvPr id="95" name="Google Shape;95;p18"/>
          <p:cNvSpPr txBox="1"/>
          <p:nvPr>
            <p:ph idx="1" type="body"/>
          </p:nvPr>
        </p:nvSpPr>
        <p:spPr>
          <a:xfrm>
            <a:off x="4339500" y="1152300"/>
            <a:ext cx="4804500" cy="2838900"/>
          </a:xfrm>
          <a:prstGeom prst="rect">
            <a:avLst/>
          </a:prstGeom>
        </p:spPr>
        <p:txBody>
          <a:bodyPr anchorCtr="0" anchor="t" bIns="91425" lIns="91425" spcFirstLastPara="1" rIns="91425" wrap="square" tIns="91425">
            <a:noAutofit/>
          </a:bodyPr>
          <a:lstStyle/>
          <a:p>
            <a:pPr indent="-381000" lvl="0" marL="457200" rtl="0" algn="l">
              <a:lnSpc>
                <a:spcPct val="150000"/>
              </a:lnSpc>
              <a:spcBef>
                <a:spcPts val="0"/>
              </a:spcBef>
              <a:spcAft>
                <a:spcPts val="0"/>
              </a:spcAft>
              <a:buClr>
                <a:srgbClr val="0F1115"/>
              </a:buClr>
              <a:buSzPts val="2400"/>
              <a:buFont typeface="Arial"/>
              <a:buChar char="●"/>
            </a:pPr>
            <a:r>
              <a:rPr lang="en" sz="2400">
                <a:solidFill>
                  <a:srgbClr val="0F1115"/>
                </a:solidFill>
                <a:latin typeface="Arial"/>
                <a:ea typeface="Arial"/>
                <a:cs typeface="Arial"/>
                <a:sym typeface="Arial"/>
              </a:rPr>
              <a:t>Reworked login and user authentication</a:t>
            </a:r>
            <a:endParaRPr sz="2400">
              <a:solidFill>
                <a:srgbClr val="0F1115"/>
              </a:solidFill>
              <a:latin typeface="Arial"/>
              <a:ea typeface="Arial"/>
              <a:cs typeface="Arial"/>
              <a:sym typeface="Arial"/>
            </a:endParaRPr>
          </a:p>
          <a:p>
            <a:pPr indent="-381000" lvl="0" marL="457200" rtl="0" algn="l">
              <a:lnSpc>
                <a:spcPct val="150000"/>
              </a:lnSpc>
              <a:spcBef>
                <a:spcPts val="0"/>
              </a:spcBef>
              <a:spcAft>
                <a:spcPts val="0"/>
              </a:spcAft>
              <a:buClr>
                <a:srgbClr val="0F1115"/>
              </a:buClr>
              <a:buSzPts val="2400"/>
              <a:buFont typeface="Arial"/>
              <a:buChar char="●"/>
            </a:pPr>
            <a:r>
              <a:rPr lang="en" sz="2400">
                <a:solidFill>
                  <a:srgbClr val="0F1115"/>
                </a:solidFill>
                <a:latin typeface="Arial"/>
                <a:ea typeface="Arial"/>
                <a:cs typeface="Arial"/>
                <a:sym typeface="Arial"/>
              </a:rPr>
              <a:t>Form auto-saving</a:t>
            </a:r>
            <a:endParaRPr sz="2400">
              <a:solidFill>
                <a:srgbClr val="0F1115"/>
              </a:solidFill>
              <a:latin typeface="Arial"/>
              <a:ea typeface="Arial"/>
              <a:cs typeface="Arial"/>
              <a:sym typeface="Arial"/>
            </a:endParaRPr>
          </a:p>
          <a:p>
            <a:pPr indent="-381000" lvl="0" marL="457200" rtl="0" algn="l">
              <a:lnSpc>
                <a:spcPct val="150000"/>
              </a:lnSpc>
              <a:spcBef>
                <a:spcPts val="0"/>
              </a:spcBef>
              <a:spcAft>
                <a:spcPts val="0"/>
              </a:spcAft>
              <a:buClr>
                <a:srgbClr val="0F1115"/>
              </a:buClr>
              <a:buSzPts val="2400"/>
              <a:buFont typeface="Arial"/>
              <a:buChar char="●"/>
            </a:pPr>
            <a:r>
              <a:rPr lang="en" sz="2400">
                <a:solidFill>
                  <a:srgbClr val="0F1115"/>
                </a:solidFill>
                <a:latin typeface="Arial"/>
                <a:ea typeface="Arial"/>
                <a:cs typeface="Arial"/>
                <a:sym typeface="Arial"/>
              </a:rPr>
              <a:t>Bug fixes and improvements</a:t>
            </a:r>
            <a:endParaRPr sz="2400">
              <a:solidFill>
                <a:srgbClr val="0F1115"/>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9" name="Shape 99"/>
        <p:cNvGrpSpPr/>
        <p:nvPr/>
      </p:nvGrpSpPr>
      <p:grpSpPr>
        <a:xfrm>
          <a:off x="0" y="0"/>
          <a:ext cx="0" cy="0"/>
          <a:chOff x="0" y="0"/>
          <a:chExt cx="0" cy="0"/>
        </a:xfrm>
      </p:grpSpPr>
      <p:sp>
        <p:nvSpPr>
          <p:cNvPr id="100" name="Google Shape;100;p19"/>
          <p:cNvSpPr txBox="1"/>
          <p:nvPr>
            <p:ph type="title"/>
          </p:nvPr>
        </p:nvSpPr>
        <p:spPr>
          <a:xfrm>
            <a:off x="311700" y="34197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DEMO</a:t>
            </a:r>
            <a:endParaRPr/>
          </a:p>
        </p:txBody>
      </p:sp>
      <p:sp>
        <p:nvSpPr>
          <p:cNvPr id="101" name="Google Shape;101;p19"/>
          <p:cNvSpPr txBox="1"/>
          <p:nvPr/>
        </p:nvSpPr>
        <p:spPr>
          <a:xfrm>
            <a:off x="456450" y="1582800"/>
            <a:ext cx="6142800" cy="327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rPr>
              <a:t>OPTIONS</a:t>
            </a:r>
            <a:endParaRPr sz="1600">
              <a:solidFill>
                <a:schemeClr val="dk1"/>
              </a:solidFill>
            </a:endParaRPr>
          </a:p>
          <a:p>
            <a:pPr indent="-311150" lvl="0" marL="457200" rtl="0" algn="l">
              <a:spcBef>
                <a:spcPts val="0"/>
              </a:spcBef>
              <a:spcAft>
                <a:spcPts val="0"/>
              </a:spcAft>
              <a:buClr>
                <a:schemeClr val="dk1"/>
              </a:buClr>
              <a:buSzPts val="1300"/>
              <a:buChar char="●"/>
            </a:pPr>
            <a:r>
              <a:rPr lang="en" sz="1300">
                <a:solidFill>
                  <a:schemeClr val="dk1"/>
                </a:solidFill>
              </a:rPr>
              <a:t>Run tests</a:t>
            </a:r>
            <a:endParaRPr sz="1300">
              <a:solidFill>
                <a:schemeClr val="dk1"/>
              </a:solidFill>
            </a:endParaRPr>
          </a:p>
          <a:p>
            <a:pPr indent="-311150" lvl="0" marL="457200" rtl="0" algn="l">
              <a:spcBef>
                <a:spcPts val="0"/>
              </a:spcBef>
              <a:spcAft>
                <a:spcPts val="0"/>
              </a:spcAft>
              <a:buClr>
                <a:schemeClr val="dk1"/>
              </a:buClr>
              <a:buSzPts val="1300"/>
              <a:buChar char="●"/>
            </a:pPr>
            <a:r>
              <a:rPr lang="en" sz="1300">
                <a:solidFill>
                  <a:schemeClr val="dk1"/>
                </a:solidFill>
              </a:rPr>
              <a:t>Display toasts/ form validation</a:t>
            </a:r>
            <a:endParaRPr sz="1300">
              <a:solidFill>
                <a:schemeClr val="dk1"/>
              </a:solidFill>
            </a:endParaRPr>
          </a:p>
          <a:p>
            <a:pPr indent="-311150" lvl="0" marL="457200" rtl="0" algn="l">
              <a:spcBef>
                <a:spcPts val="0"/>
              </a:spcBef>
              <a:spcAft>
                <a:spcPts val="0"/>
              </a:spcAft>
              <a:buClr>
                <a:schemeClr val="dk1"/>
              </a:buClr>
              <a:buSzPts val="1300"/>
              <a:buChar char="●"/>
            </a:pPr>
            <a:r>
              <a:rPr lang="en" sz="1300">
                <a:solidFill>
                  <a:schemeClr val="dk1"/>
                </a:solidFill>
              </a:rPr>
              <a:t>Display dark mode</a:t>
            </a:r>
            <a:endParaRPr sz="1300">
              <a:solidFill>
                <a:schemeClr val="dk1"/>
              </a:solidFill>
            </a:endParaRPr>
          </a:p>
          <a:p>
            <a:pPr indent="-311150" lvl="0" marL="457200" rtl="0" algn="l">
              <a:spcBef>
                <a:spcPts val="0"/>
              </a:spcBef>
              <a:spcAft>
                <a:spcPts val="0"/>
              </a:spcAft>
              <a:buClr>
                <a:schemeClr val="dk1"/>
              </a:buClr>
              <a:buSzPts val="1300"/>
              <a:buChar char="●"/>
            </a:pPr>
            <a:r>
              <a:rPr lang="en" sz="1300">
                <a:solidFill>
                  <a:schemeClr val="dk1"/>
                </a:solidFill>
              </a:rPr>
              <a:t>Show before/after</a:t>
            </a:r>
            <a:endParaRPr sz="1300">
              <a:solidFill>
                <a:schemeClr val="dk1"/>
              </a:solidFill>
            </a:endParaRPr>
          </a:p>
          <a:p>
            <a:pPr indent="-311150" lvl="0" marL="457200" rtl="0" algn="l">
              <a:spcBef>
                <a:spcPts val="0"/>
              </a:spcBef>
              <a:spcAft>
                <a:spcPts val="0"/>
              </a:spcAft>
              <a:buClr>
                <a:schemeClr val="dk1"/>
              </a:buClr>
              <a:buSzPts val="1300"/>
              <a:buChar char="●"/>
            </a:pPr>
            <a:r>
              <a:rPr lang="en" sz="1300">
                <a:solidFill>
                  <a:schemeClr val="dk1"/>
                </a:solidFill>
              </a:rPr>
              <a:t>Show WNL code</a:t>
            </a:r>
            <a:endParaRPr sz="1300">
              <a:solidFill>
                <a:schemeClr val="dk1"/>
              </a:solidFill>
            </a:endParaRPr>
          </a:p>
          <a:p>
            <a:pPr indent="-311150" lvl="0" marL="457200" rtl="0" algn="l">
              <a:spcBef>
                <a:spcPts val="0"/>
              </a:spcBef>
              <a:spcAft>
                <a:spcPts val="0"/>
              </a:spcAft>
              <a:buClr>
                <a:schemeClr val="dk1"/>
              </a:buClr>
              <a:buSzPts val="1300"/>
              <a:buChar char="●"/>
            </a:pPr>
            <a:r>
              <a:rPr lang="en" sz="1300">
                <a:solidFill>
                  <a:schemeClr val="dk1"/>
                </a:solidFill>
              </a:rPr>
              <a:t>Show SAML auth</a:t>
            </a:r>
            <a:endParaRPr sz="13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0"/>
          <p:cNvSpPr txBox="1"/>
          <p:nvPr>
            <p:ph type="title"/>
          </p:nvPr>
        </p:nvSpPr>
        <p:spPr>
          <a:xfrm>
            <a:off x="257725" y="1229925"/>
            <a:ext cx="3706500" cy="1380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How Design Norms Shaped Our Project</a:t>
            </a:r>
            <a:endParaRPr/>
          </a:p>
        </p:txBody>
      </p:sp>
      <p:sp>
        <p:nvSpPr>
          <p:cNvPr id="107" name="Google Shape;107;p20"/>
          <p:cNvSpPr txBox="1"/>
          <p:nvPr>
            <p:ph idx="1" type="body"/>
          </p:nvPr>
        </p:nvSpPr>
        <p:spPr>
          <a:xfrm>
            <a:off x="4793175" y="1229925"/>
            <a:ext cx="4166400" cy="2838900"/>
          </a:xfrm>
          <a:prstGeom prst="rect">
            <a:avLst/>
          </a:prstGeom>
        </p:spPr>
        <p:txBody>
          <a:bodyPr anchorCtr="0" anchor="t" bIns="91425" lIns="91425" spcFirstLastPara="1" rIns="91425" wrap="square" tIns="91425">
            <a:noAutofit/>
          </a:bodyPr>
          <a:lstStyle/>
          <a:p>
            <a:pPr indent="-381953" lvl="0" marL="457200" rtl="0" algn="l">
              <a:lnSpc>
                <a:spcPct val="150000"/>
              </a:lnSpc>
              <a:spcBef>
                <a:spcPts val="0"/>
              </a:spcBef>
              <a:spcAft>
                <a:spcPts val="0"/>
              </a:spcAft>
              <a:buClr>
                <a:srgbClr val="000000"/>
              </a:buClr>
              <a:buSzPts val="2415"/>
              <a:buChar char="●"/>
            </a:pPr>
            <a:r>
              <a:rPr lang="en" sz="2415">
                <a:solidFill>
                  <a:srgbClr val="000000"/>
                </a:solidFill>
              </a:rPr>
              <a:t>Appropriateness</a:t>
            </a:r>
            <a:endParaRPr sz="2415">
              <a:solidFill>
                <a:srgbClr val="000000"/>
              </a:solidFill>
            </a:endParaRPr>
          </a:p>
          <a:p>
            <a:pPr indent="-381953" lvl="0" marL="457200" rtl="0" algn="l">
              <a:lnSpc>
                <a:spcPct val="150000"/>
              </a:lnSpc>
              <a:spcBef>
                <a:spcPts val="0"/>
              </a:spcBef>
              <a:spcAft>
                <a:spcPts val="0"/>
              </a:spcAft>
              <a:buClr>
                <a:srgbClr val="000000"/>
              </a:buClr>
              <a:buSzPts val="2415"/>
              <a:buChar char="●"/>
            </a:pPr>
            <a:r>
              <a:rPr lang="en" sz="2415">
                <a:solidFill>
                  <a:srgbClr val="000000"/>
                </a:solidFill>
              </a:rPr>
              <a:t>Caring</a:t>
            </a:r>
            <a:endParaRPr sz="2415">
              <a:solidFill>
                <a:srgbClr val="000000"/>
              </a:solidFill>
            </a:endParaRPr>
          </a:p>
          <a:p>
            <a:pPr indent="-381953" lvl="0" marL="457200" rtl="0" algn="l">
              <a:lnSpc>
                <a:spcPct val="150000"/>
              </a:lnSpc>
              <a:spcBef>
                <a:spcPts val="0"/>
              </a:spcBef>
              <a:spcAft>
                <a:spcPts val="0"/>
              </a:spcAft>
              <a:buClr>
                <a:srgbClr val="000000"/>
              </a:buClr>
              <a:buSzPts val="2415"/>
              <a:buChar char="●"/>
            </a:pPr>
            <a:r>
              <a:rPr lang="en" sz="2415">
                <a:solidFill>
                  <a:srgbClr val="000000"/>
                </a:solidFill>
              </a:rPr>
              <a:t>Transparency</a:t>
            </a:r>
            <a:endParaRPr sz="2415">
              <a:solidFill>
                <a:srgbClr val="000000"/>
              </a:solidFill>
            </a:endParaRPr>
          </a:p>
          <a:p>
            <a:pPr indent="-381953" lvl="0" marL="457200" rtl="0" algn="l">
              <a:lnSpc>
                <a:spcPct val="150000"/>
              </a:lnSpc>
              <a:spcBef>
                <a:spcPts val="0"/>
              </a:spcBef>
              <a:spcAft>
                <a:spcPts val="0"/>
              </a:spcAft>
              <a:buClr>
                <a:srgbClr val="000000"/>
              </a:buClr>
              <a:buSzPts val="2415"/>
              <a:buChar char="●"/>
            </a:pPr>
            <a:r>
              <a:rPr lang="en" sz="2415">
                <a:solidFill>
                  <a:srgbClr val="000000"/>
                </a:solidFill>
              </a:rPr>
              <a:t>Trust</a:t>
            </a:r>
            <a:endParaRPr sz="2415">
              <a:solidFill>
                <a:srgbClr val="000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1"/>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Challenges We Faced</a:t>
            </a:r>
            <a:endParaRPr/>
          </a:p>
        </p:txBody>
      </p:sp>
      <p:sp>
        <p:nvSpPr>
          <p:cNvPr id="113" name="Google Shape;113;p21"/>
          <p:cNvSpPr txBox="1"/>
          <p:nvPr/>
        </p:nvSpPr>
        <p:spPr>
          <a:xfrm>
            <a:off x="751650" y="1684975"/>
            <a:ext cx="6540000" cy="1662300"/>
          </a:xfrm>
          <a:prstGeom prst="rect">
            <a:avLst/>
          </a:prstGeom>
          <a:noFill/>
          <a:ln>
            <a:noFill/>
          </a:ln>
        </p:spPr>
        <p:txBody>
          <a:bodyPr anchorCtr="0" anchor="t" bIns="91425" lIns="91425" spcFirstLastPara="1" rIns="91425" wrap="square" tIns="91425">
            <a:spAutoFit/>
          </a:bodyPr>
          <a:lstStyle/>
          <a:p>
            <a:pPr indent="-381000" lvl="0" marL="457200" rtl="0" algn="l">
              <a:lnSpc>
                <a:spcPct val="150000"/>
              </a:lnSpc>
              <a:spcBef>
                <a:spcPts val="0"/>
              </a:spcBef>
              <a:spcAft>
                <a:spcPts val="0"/>
              </a:spcAft>
              <a:buClr>
                <a:srgbClr val="0F1115"/>
              </a:buClr>
              <a:buSzPts val="2400"/>
              <a:buChar char="●"/>
            </a:pPr>
            <a:r>
              <a:rPr lang="en" sz="2400">
                <a:solidFill>
                  <a:srgbClr val="0F1115"/>
                </a:solidFill>
              </a:rPr>
              <a:t>Working with legacy code</a:t>
            </a:r>
            <a:endParaRPr sz="2400">
              <a:solidFill>
                <a:srgbClr val="0F1115"/>
              </a:solidFill>
            </a:endParaRPr>
          </a:p>
          <a:p>
            <a:pPr indent="-381000" lvl="0" marL="457200" rtl="0" algn="l">
              <a:lnSpc>
                <a:spcPct val="150000"/>
              </a:lnSpc>
              <a:spcBef>
                <a:spcPts val="0"/>
              </a:spcBef>
              <a:spcAft>
                <a:spcPts val="0"/>
              </a:spcAft>
              <a:buClr>
                <a:srgbClr val="0F1115"/>
              </a:buClr>
              <a:buSzPts val="2400"/>
              <a:buChar char="●"/>
            </a:pPr>
            <a:r>
              <a:rPr lang="en" sz="2400">
                <a:solidFill>
                  <a:srgbClr val="0F1115"/>
                </a:solidFill>
              </a:rPr>
              <a:t>SAML login</a:t>
            </a:r>
            <a:endParaRPr sz="2400">
              <a:solidFill>
                <a:srgbClr val="0F1115"/>
              </a:solidFill>
            </a:endParaRPr>
          </a:p>
          <a:p>
            <a:pPr indent="-381000" lvl="0" marL="457200" rtl="0" algn="l">
              <a:lnSpc>
                <a:spcPct val="150000"/>
              </a:lnSpc>
              <a:spcBef>
                <a:spcPts val="0"/>
              </a:spcBef>
              <a:spcAft>
                <a:spcPts val="0"/>
              </a:spcAft>
              <a:buClr>
                <a:srgbClr val="0F1115"/>
              </a:buClr>
              <a:buSzPts val="2400"/>
              <a:buChar char="●"/>
            </a:pPr>
            <a:r>
              <a:rPr lang="en" sz="2400">
                <a:solidFill>
                  <a:srgbClr val="0F1115"/>
                </a:solidFill>
              </a:rPr>
              <a:t>Test inconsistency</a:t>
            </a:r>
            <a:endParaRPr sz="2400">
              <a:solidFill>
                <a:srgbClr val="0F1115"/>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2"/>
          <p:cNvSpPr txBox="1"/>
          <p:nvPr>
            <p:ph type="title"/>
          </p:nvPr>
        </p:nvSpPr>
        <p:spPr>
          <a:xfrm>
            <a:off x="244700" y="869550"/>
            <a:ext cx="3706500" cy="829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Future Goals</a:t>
            </a:r>
            <a:endParaRPr/>
          </a:p>
        </p:txBody>
      </p:sp>
      <p:sp>
        <p:nvSpPr>
          <p:cNvPr id="119" name="Google Shape;119;p22"/>
          <p:cNvSpPr txBox="1"/>
          <p:nvPr>
            <p:ph idx="1" type="body"/>
          </p:nvPr>
        </p:nvSpPr>
        <p:spPr>
          <a:xfrm>
            <a:off x="4644675" y="869550"/>
            <a:ext cx="4166400" cy="4098600"/>
          </a:xfrm>
          <a:prstGeom prst="rect">
            <a:avLst/>
          </a:prstGeom>
        </p:spPr>
        <p:txBody>
          <a:bodyPr anchorCtr="0" anchor="t" bIns="91425" lIns="91425" spcFirstLastPara="1" rIns="91425" wrap="square" tIns="91425">
            <a:normAutofit/>
          </a:bodyPr>
          <a:lstStyle/>
          <a:p>
            <a:pPr indent="-381000" lvl="0" marL="457200" rtl="0" algn="l">
              <a:lnSpc>
                <a:spcPct val="150000"/>
              </a:lnSpc>
              <a:spcBef>
                <a:spcPts val="1000"/>
              </a:spcBef>
              <a:spcAft>
                <a:spcPts val="0"/>
              </a:spcAft>
              <a:buClr>
                <a:srgbClr val="000000"/>
              </a:buClr>
              <a:buSzPts val="2400"/>
              <a:buFont typeface="Arial"/>
              <a:buChar char="●"/>
            </a:pPr>
            <a:r>
              <a:rPr lang="en" sz="2400">
                <a:solidFill>
                  <a:srgbClr val="000000"/>
                </a:solidFill>
                <a:latin typeface="Arial"/>
                <a:ea typeface="Arial"/>
                <a:cs typeface="Arial"/>
                <a:sym typeface="Arial"/>
              </a:rPr>
              <a:t>Continue working with the nursing department</a:t>
            </a:r>
            <a:endParaRPr sz="2400">
              <a:solidFill>
                <a:srgbClr val="000000"/>
              </a:solidFill>
              <a:latin typeface="Arial"/>
              <a:ea typeface="Arial"/>
              <a:cs typeface="Arial"/>
              <a:sym typeface="Arial"/>
            </a:endParaRPr>
          </a:p>
          <a:p>
            <a:pPr indent="-381000" lvl="0" marL="457200" rtl="0" algn="l">
              <a:lnSpc>
                <a:spcPct val="150000"/>
              </a:lnSpc>
              <a:spcBef>
                <a:spcPts val="1200"/>
              </a:spcBef>
              <a:spcAft>
                <a:spcPts val="0"/>
              </a:spcAft>
              <a:buClr>
                <a:srgbClr val="000000"/>
              </a:buClr>
              <a:buSzPts val="2400"/>
              <a:buFont typeface="Arial"/>
              <a:buChar char="●"/>
            </a:pPr>
            <a:r>
              <a:rPr lang="en" sz="2400">
                <a:solidFill>
                  <a:srgbClr val="000000"/>
                </a:solidFill>
                <a:latin typeface="Arial"/>
                <a:ea typeface="Arial"/>
                <a:cs typeface="Arial"/>
                <a:sym typeface="Arial"/>
              </a:rPr>
              <a:t>Continue writing </a:t>
            </a:r>
            <a:r>
              <a:rPr lang="en" sz="2400">
                <a:solidFill>
                  <a:srgbClr val="000000"/>
                </a:solidFill>
                <a:latin typeface="Arial"/>
                <a:ea typeface="Arial"/>
                <a:cs typeface="Arial"/>
                <a:sym typeface="Arial"/>
              </a:rPr>
              <a:t>tests</a:t>
            </a:r>
            <a:endParaRPr sz="2400">
              <a:solidFill>
                <a:srgbClr val="000000"/>
              </a:solidFill>
              <a:latin typeface="Arial"/>
              <a:ea typeface="Arial"/>
              <a:cs typeface="Arial"/>
              <a:sym typeface="Arial"/>
            </a:endParaRPr>
          </a:p>
          <a:p>
            <a:pPr indent="-381000" lvl="0" marL="457200" rtl="0" algn="l">
              <a:lnSpc>
                <a:spcPct val="150000"/>
              </a:lnSpc>
              <a:spcBef>
                <a:spcPts val="1000"/>
              </a:spcBef>
              <a:spcAft>
                <a:spcPts val="1200"/>
              </a:spcAft>
              <a:buClr>
                <a:srgbClr val="000000"/>
              </a:buClr>
              <a:buSzPts val="2400"/>
              <a:buFont typeface="Arial"/>
              <a:buChar char="●"/>
            </a:pPr>
            <a:r>
              <a:rPr lang="en" sz="2400">
                <a:solidFill>
                  <a:srgbClr val="000000"/>
                </a:solidFill>
                <a:latin typeface="Arial"/>
                <a:ea typeface="Arial"/>
                <a:cs typeface="Arial"/>
                <a:sym typeface="Arial"/>
              </a:rPr>
              <a:t>Develop into a product for other schools</a:t>
            </a:r>
            <a:endParaRPr sz="2400">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3"/>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Questions?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8" name="Shape 128"/>
        <p:cNvGrpSpPr/>
        <p:nvPr/>
      </p:nvGrpSpPr>
      <p:grpSpPr>
        <a:xfrm>
          <a:off x="0" y="0"/>
          <a:ext cx="0" cy="0"/>
          <a:chOff x="0" y="0"/>
          <a:chExt cx="0" cy="0"/>
        </a:xfrm>
      </p:grpSpPr>
      <p:sp>
        <p:nvSpPr>
          <p:cNvPr id="129" name="Google Shape;129;p24"/>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Semester Goals</a:t>
            </a:r>
            <a:endParaRPr/>
          </a:p>
        </p:txBody>
      </p:sp>
      <p:sp>
        <p:nvSpPr>
          <p:cNvPr id="130" name="Google Shape;130;p24"/>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p>
            <a:pPr indent="-330200" lvl="0" marL="457200" rtl="0" algn="l">
              <a:lnSpc>
                <a:spcPct val="150000"/>
              </a:lnSpc>
              <a:spcBef>
                <a:spcPts val="0"/>
              </a:spcBef>
              <a:spcAft>
                <a:spcPts val="0"/>
              </a:spcAft>
              <a:buClr>
                <a:schemeClr val="dk1"/>
              </a:buClr>
              <a:buSzPts val="1600"/>
              <a:buChar char="●"/>
            </a:pPr>
            <a:r>
              <a:rPr lang="en" sz="1600">
                <a:solidFill>
                  <a:schemeClr val="dk1"/>
                </a:solidFill>
              </a:rPr>
              <a:t>Adding features as requested by the nursing department</a:t>
            </a:r>
            <a:endParaRPr sz="1600">
              <a:solidFill>
                <a:schemeClr val="dk1"/>
              </a:solidFill>
            </a:endParaRPr>
          </a:p>
          <a:p>
            <a:pPr indent="-330200" lvl="0" marL="457200" rtl="0" algn="l">
              <a:lnSpc>
                <a:spcPct val="150000"/>
              </a:lnSpc>
              <a:spcBef>
                <a:spcPts val="0"/>
              </a:spcBef>
              <a:spcAft>
                <a:spcPts val="0"/>
              </a:spcAft>
              <a:buClr>
                <a:schemeClr val="dk1"/>
              </a:buClr>
              <a:buSzPts val="1600"/>
              <a:buChar char="●"/>
            </a:pPr>
            <a:r>
              <a:rPr lang="en" sz="1600">
                <a:solidFill>
                  <a:schemeClr val="dk1"/>
                </a:solidFill>
              </a:rPr>
              <a:t>Developing end-to-end tests</a:t>
            </a:r>
            <a:endParaRPr sz="1600">
              <a:solidFill>
                <a:schemeClr val="dk1"/>
              </a:solidFill>
            </a:endParaRPr>
          </a:p>
          <a:p>
            <a:pPr indent="-330200" lvl="0" marL="457200" rtl="0" algn="l">
              <a:lnSpc>
                <a:spcPct val="150000"/>
              </a:lnSpc>
              <a:spcBef>
                <a:spcPts val="0"/>
              </a:spcBef>
              <a:spcAft>
                <a:spcPts val="0"/>
              </a:spcAft>
              <a:buClr>
                <a:schemeClr val="dk1"/>
              </a:buClr>
              <a:buSzPts val="1600"/>
              <a:buChar char="●"/>
            </a:pPr>
            <a:r>
              <a:rPr lang="en" sz="1600">
                <a:solidFill>
                  <a:schemeClr val="dk1"/>
                </a:solidFill>
              </a:rPr>
              <a:t>Make bug fixes and improve accessibility</a:t>
            </a:r>
            <a:endParaRPr sz="16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